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91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COLLABORATION PORTAL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1031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RFQ Module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Executive Walkthrough of a Best-in-Class, AI-Powered Sourcing Experience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condenses the full RFQ module blueprint into a one-page summary and a screen-by-screen tour of the six core AI-enabled experiences.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Markus Bayer — Accelance   | 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4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best-in-class, agentic-AI-powered RFQ module for the Supplier Collaboration Portal — right-sized for mid-market enterprises up to roughly $4B in revenue.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600200"/>
          </a:xfrm>
          <a:prstGeom prst="roundRect">
            <a:avLst>
              <a:gd name="adj" fmla="val 4571"/>
            </a:avLst>
          </a:prstGeom>
          <a:solidFill>
            <a:srgbClr val="EAF1FA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154A80"/>
          </a:solidFill>
          <a:ln/>
        </p:spPr>
      </p:sp>
      <p:pic>
        <p:nvPicPr>
          <p:cNvPr id="6" name="Image 0" descr="/sessions/epic-ecstatic-goldberg/mnt/outputs/icons/Fa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4825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65960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Agentic, not just assisted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587752"/>
            <a:ext cx="48966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drafts, shortlists, scores, negotiates and reports on its own — the buyer reviews and decides.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31636" y="1691640"/>
            <a:ext cx="5408676" cy="1600200"/>
          </a:xfrm>
          <a:prstGeom prst="roundRect">
            <a:avLst>
              <a:gd name="adj" fmla="val 4571"/>
            </a:avLst>
          </a:prstGeom>
          <a:solidFill>
            <a:srgbClr val="EAF1FA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87668" y="1947672"/>
            <a:ext cx="502920" cy="502920"/>
          </a:xfrm>
          <a:prstGeom prst="ellipse">
            <a:avLst/>
          </a:prstGeom>
          <a:solidFill>
            <a:srgbClr val="154A80"/>
          </a:solidFill>
          <a:ln/>
        </p:spPr>
      </p:sp>
      <p:pic>
        <p:nvPicPr>
          <p:cNvPr id="11" name="Image 1" descr="/sessions/epic-ecstatic-goldberg/mnt/outputs/icons/FaShield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52" y="204825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46036" y="1965960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Guardrailed autonomy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87668" y="2587752"/>
            <a:ext cx="48966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automated action has a confidence threshold and a financial boundary; anything beyond it comes to you for approval.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566160"/>
            <a:ext cx="5408676" cy="1600200"/>
          </a:xfrm>
          <a:prstGeom prst="roundRect">
            <a:avLst>
              <a:gd name="adj" fmla="val 4571"/>
            </a:avLst>
          </a:prstGeom>
          <a:solidFill>
            <a:srgbClr val="EAF1FA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822192"/>
            <a:ext cx="502920" cy="502920"/>
          </a:xfrm>
          <a:prstGeom prst="ellipse">
            <a:avLst/>
          </a:prstGeom>
          <a:solidFill>
            <a:srgbClr val="154A80"/>
          </a:solidFill>
          <a:ln/>
        </p:spPr>
      </p:sp>
      <p:pic>
        <p:nvPicPr>
          <p:cNvPr id="16" name="Image 2" descr="/sessions/epic-ecstatic-goldberg/mnt/outputs/icons/Fa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92277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840480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your existing data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04672" y="4462272"/>
            <a:ext cx="48966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Article, Supplier and Pricing data already in the portal — nothing is entered twice.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31636" y="3566160"/>
            <a:ext cx="5408676" cy="1600200"/>
          </a:xfrm>
          <a:prstGeom prst="roundRect">
            <a:avLst>
              <a:gd name="adj" fmla="val 4571"/>
            </a:avLst>
          </a:prstGeom>
          <a:solidFill>
            <a:srgbClr val="EAF1FA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87668" y="3822192"/>
            <a:ext cx="502920" cy="502920"/>
          </a:xfrm>
          <a:prstGeom prst="ellipse">
            <a:avLst/>
          </a:prstGeom>
          <a:solidFill>
            <a:srgbClr val="154A80"/>
          </a:solidFill>
          <a:ln/>
        </p:spPr>
      </p:sp>
      <p:pic>
        <p:nvPicPr>
          <p:cNvPr id="21" name="Image 3" descr="/sessions/epic-ecstatic-goldberg/mnt/outputs/icons/FaEy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392277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46036" y="3840480"/>
            <a:ext cx="4265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4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&amp; explainable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87668" y="4462272"/>
            <a:ext cx="489661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defaults and a visible rationale behind every recommendation, tuned for lean mid-market teams.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5422392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3EEFC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5513832"/>
            <a:ext cx="10561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7C4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walkthrough covers the six core screens.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blueprint also includes a 15-feature AI automation catalog, governance &amp; guardrail settings, an 11-row settings table, a complete 10-phase user journey, and ~30 user stories.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RFQ Module — Executive Walkthrough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4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4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RFQ Dashboard — Control Tower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control tower where AI — not the buyer — notices which RFQs need attention.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 and an AI Health score (On Track / At Risk / Action Needed) computed per RFQ, not manually set.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Sourcing Copilot banner proactively flags at-risk RFQs with a one-click fix.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filter chips and sortable columns for fast triage across every RFQ in flight.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44568" y="1023052"/>
            <a:ext cx="7324344" cy="4537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4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sessions/epic-ecstatic-goldberg/mnt/outputs/wf1_rfq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096204"/>
            <a:ext cx="7178040" cy="43912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RFQ Module — Executive Walkthrough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4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4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RFQ — AI Requirements Assistant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pasted spec or a two-sentence request into a structured, ready-to-edit RFQ.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and document input, including voice and file upload.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every field — title, category, volume, delivery — with a visible confidence score.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category templates, or a blank-form fallback for buyers who prefer 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44568" y="1023052"/>
            <a:ext cx="7324344" cy="4537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4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sessions/epic-ecstatic-goldberg/mnt/outputs/wf2_create_rfq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096204"/>
            <a:ext cx="7178040" cy="43912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RFQ Module — Executive Walkthrough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4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4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Supplier Shortlisting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“who do we usually ask?” with a ranked, explainable shortlist from the full qualified pool.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score, risk badge, on-time delivery and quality signals for every supplier.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“why recommended” rationale on every row, for trust and audit.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overridable shortlist, with one-click invite for a brand-new supplier.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44568" y="1023052"/>
            <a:ext cx="7324344" cy="4537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4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sessions/epic-ecstatic-goldberg/mnt/outputs/wf3_supplier_recommen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096204"/>
            <a:ext cx="7178040" cy="43912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RFQ Module — Executive Walkthrough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4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4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 Comparison &amp; AI Bid Analysis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pile of incoming quotes into a defensible, ranked recommendation in minutes.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 tabulation builds automatically as quotes arrive, with outliers auto-flagged.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adjustable weighted-scoring model re-ranks suppliers as priorities change.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Award, Request BAFO, or hand the next round to the negotiation copilot.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44568" y="1023052"/>
            <a:ext cx="7324344" cy="4537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4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sessions/epic-ecstatic-goldberg/mnt/outputs/wf4_quote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096204"/>
            <a:ext cx="7178040" cy="43912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RFQ Module — Executive Walkthrough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4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5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4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Negotiation Copilot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distinctive capability: an AI agent that negotiates on the buyer’s behalf, inside guardrails the buyer sets.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Guardrailed autonomous counter-offers — auto-send within a bounded range, approval required beyond it.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negotiation tracker showing progress toward target and estimated savings.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auditable log of every AI action taken during the negotiation.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44568" y="1023052"/>
            <a:ext cx="7324344" cy="4537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4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sessions/epic-ecstatic-goldberg/mnt/outputs/wf5_negotiation_copi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096204"/>
            <a:ext cx="7178040" cy="43912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RFQ Module — Executive Walkthrough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C4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6 OF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154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Award, Contract Handoff &amp; Analytics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loop from decision to system-of-record action — and makes the savings story visible without a slide deck.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3794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PO generation, contract handoff, and AI-drafted award/regret notices.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savings and sourcing-cycle-time trend charts, always up to date.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●"/>
            </a:pPr>
            <a:r>
              <a:rPr lang="en-US" sz="1250" dirty="0">
                <a:solidFill>
                  <a:srgbClr val="1E2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auto-generated, plain-language executive summary of what happened and what was saved.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44568" y="1023052"/>
            <a:ext cx="7324344" cy="4537576"/>
          </a:xfrm>
          <a:prstGeom prst="rect">
            <a:avLst/>
          </a:prstGeom>
          <a:solidFill>
            <a:srgbClr val="FFFFFF"/>
          </a:solidFill>
          <a:ln w="12700">
            <a:solidFill>
              <a:srgbClr val="DFE4E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/sessions/epic-ecstatic-goldberg/mnt/outputs/wf6_award_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7720" y="1096204"/>
            <a:ext cx="7178040" cy="43912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RFQ Module — Executive Walkthrough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E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RFQ: Building a World-Class Supplier Portal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adjacent modules worth roadmapping once the RFQ module is live.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27632"/>
            <a:ext cx="3545129" cy="1463040"/>
          </a:xfrm>
          <a:prstGeom prst="roundRect">
            <a:avLst>
              <a:gd name="adj" fmla="val 4375"/>
            </a:avLst>
          </a:prstGeom>
          <a:solidFill>
            <a:srgbClr val="1B4A7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28800"/>
            <a:ext cx="420624" cy="420624"/>
          </a:xfrm>
          <a:prstGeom prst="ellipse">
            <a:avLst/>
          </a:prstGeom>
          <a:solidFill>
            <a:srgbClr val="7C4DD2"/>
          </a:solidFill>
          <a:ln/>
        </p:spPr>
      </p:sp>
      <p:pic>
        <p:nvPicPr>
          <p:cNvPr id="6" name="Image 0" descr="/sessions/epic-ecstatic-goldberg/mnt/outputs/icons/FaFileContr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1912925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773936"/>
            <a:ext cx="26307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Lifecycle Management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304288"/>
            <a:ext cx="314279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awarded RFQs into managed agreements with renewal alerts and clause tracking.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22369" y="1627632"/>
            <a:ext cx="3545129" cy="1463040"/>
          </a:xfrm>
          <a:prstGeom prst="roundRect">
            <a:avLst>
              <a:gd name="adj" fmla="val 4375"/>
            </a:avLst>
          </a:prstGeom>
          <a:solidFill>
            <a:srgbClr val="1B4A78"/>
          </a:solidFill>
          <a:ln/>
        </p:spPr>
      </p:sp>
      <p:sp>
        <p:nvSpPr>
          <p:cNvPr id="10" name="Shape 7"/>
          <p:cNvSpPr/>
          <p:nvPr/>
        </p:nvSpPr>
        <p:spPr>
          <a:xfrm>
            <a:off x="4523537" y="1828800"/>
            <a:ext cx="420624" cy="420624"/>
          </a:xfrm>
          <a:prstGeom prst="ellipse">
            <a:avLst/>
          </a:prstGeom>
          <a:solidFill>
            <a:srgbClr val="7C4DD2"/>
          </a:solidFill>
          <a:ln/>
        </p:spPr>
      </p:sp>
      <p:pic>
        <p:nvPicPr>
          <p:cNvPr id="11" name="Image 1" descr="/sessions/epic-ecstatic-goldberg/mnt/outputs/icons/FaLea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662" y="1912925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72177" y="1773936"/>
            <a:ext cx="26307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Risk, ESG &amp; Sustainability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23537" y="2304288"/>
            <a:ext cx="314279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risk, compliance and carbon/ESG monitoring across the supplier base.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96098" y="1627632"/>
            <a:ext cx="3545129" cy="1463040"/>
          </a:xfrm>
          <a:prstGeom prst="roundRect">
            <a:avLst>
              <a:gd name="adj" fmla="val 4375"/>
            </a:avLst>
          </a:prstGeom>
          <a:solidFill>
            <a:srgbClr val="1B4A78"/>
          </a:solidFill>
          <a:ln/>
        </p:spPr>
      </p:sp>
      <p:sp>
        <p:nvSpPr>
          <p:cNvPr id="15" name="Shape 11"/>
          <p:cNvSpPr/>
          <p:nvPr/>
        </p:nvSpPr>
        <p:spPr>
          <a:xfrm>
            <a:off x="8297266" y="1828800"/>
            <a:ext cx="420624" cy="420624"/>
          </a:xfrm>
          <a:prstGeom prst="ellipse">
            <a:avLst/>
          </a:prstGeom>
          <a:solidFill>
            <a:srgbClr val="7C4DD2"/>
          </a:solidFill>
          <a:ln/>
        </p:spPr>
      </p:sp>
      <p:pic>
        <p:nvPicPr>
          <p:cNvPr id="16" name="Image 2" descr="/sessions/epic-ecstatic-goldberg/mnt/outputs/icons/FaFileInvoiceDoll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390" y="1912925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45906" y="1773936"/>
            <a:ext cx="26307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e-Invoicing &amp; Supply Chain Finance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97266" y="2304288"/>
            <a:ext cx="314279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invoicing, payment status and early-payment financing for suppliers.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319272"/>
            <a:ext cx="3545129" cy="1463040"/>
          </a:xfrm>
          <a:prstGeom prst="roundRect">
            <a:avLst>
              <a:gd name="adj" fmla="val 4375"/>
            </a:avLst>
          </a:prstGeom>
          <a:solidFill>
            <a:srgbClr val="1B4A78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3520440"/>
            <a:ext cx="420624" cy="420624"/>
          </a:xfrm>
          <a:prstGeom prst="ellipse">
            <a:avLst/>
          </a:prstGeom>
          <a:solidFill>
            <a:srgbClr val="7C4DD2"/>
          </a:solidFill>
          <a:ln/>
        </p:spPr>
      </p:sp>
      <p:pic>
        <p:nvPicPr>
          <p:cNvPr id="21" name="Image 3" descr="/sessions/epic-ecstatic-goldberg/mnt/outputs/icons/Fa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3" y="3604565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98448" y="3465576"/>
            <a:ext cx="26307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 &amp; QBRs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3995928"/>
            <a:ext cx="314279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scorecards, trend dashboards and structured quarterly business reviews.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22369" y="3319272"/>
            <a:ext cx="3545129" cy="1463040"/>
          </a:xfrm>
          <a:prstGeom prst="roundRect">
            <a:avLst>
              <a:gd name="adj" fmla="val 4375"/>
            </a:avLst>
          </a:prstGeom>
          <a:solidFill>
            <a:srgbClr val="1B4A78"/>
          </a:solidFill>
          <a:ln/>
        </p:spPr>
      </p:sp>
      <p:sp>
        <p:nvSpPr>
          <p:cNvPr id="25" name="Shape 19"/>
          <p:cNvSpPr/>
          <p:nvPr/>
        </p:nvSpPr>
        <p:spPr>
          <a:xfrm>
            <a:off x="4523537" y="3520440"/>
            <a:ext cx="420624" cy="420624"/>
          </a:xfrm>
          <a:prstGeom prst="ellipse">
            <a:avLst/>
          </a:prstGeom>
          <a:solidFill>
            <a:srgbClr val="7C4DD2"/>
          </a:solidFill>
          <a:ln/>
        </p:spPr>
      </p:sp>
      <p:pic>
        <p:nvPicPr>
          <p:cNvPr id="26" name="Image 4" descr="/sessions/epic-ecstatic-goldberg/mnt/outputs/icons/FaShoppingC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662" y="3604565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72177" y="3465576"/>
            <a:ext cx="26307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Punch-out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23537" y="3995928"/>
            <a:ext cx="314279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buying for indirect spend categories via supplier catalogs and punch-out.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96098" y="3319272"/>
            <a:ext cx="3545129" cy="1463040"/>
          </a:xfrm>
          <a:prstGeom prst="roundRect">
            <a:avLst>
              <a:gd name="adj" fmla="val 4375"/>
            </a:avLst>
          </a:prstGeom>
          <a:solidFill>
            <a:srgbClr val="1B4A78"/>
          </a:solidFill>
          <a:ln/>
        </p:spPr>
      </p:sp>
      <p:sp>
        <p:nvSpPr>
          <p:cNvPr id="30" name="Shape 23"/>
          <p:cNvSpPr/>
          <p:nvPr/>
        </p:nvSpPr>
        <p:spPr>
          <a:xfrm>
            <a:off x="8297266" y="3520440"/>
            <a:ext cx="420624" cy="420624"/>
          </a:xfrm>
          <a:prstGeom prst="ellipse">
            <a:avLst/>
          </a:prstGeom>
          <a:solidFill>
            <a:srgbClr val="7C4DD2"/>
          </a:solidFill>
          <a:ln/>
        </p:spPr>
      </p:sp>
      <p:pic>
        <p:nvPicPr>
          <p:cNvPr id="31" name="Image 5" descr="/sessions/epic-ecstatic-goldberg/mnt/outputs/icons/FaLight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1390" y="3604565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45906" y="3465576"/>
            <a:ext cx="26307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NPI &amp; Design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97266" y="3995928"/>
            <a:ext cx="314279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new-product-introduction workspaces for co-development with key suppliers.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48640" y="5010912"/>
            <a:ext cx="3545129" cy="1463040"/>
          </a:xfrm>
          <a:prstGeom prst="roundRect">
            <a:avLst>
              <a:gd name="adj" fmla="val 4375"/>
            </a:avLst>
          </a:prstGeom>
          <a:solidFill>
            <a:srgbClr val="1B4A78"/>
          </a:solidFill>
          <a:ln/>
        </p:spPr>
      </p:sp>
      <p:sp>
        <p:nvSpPr>
          <p:cNvPr id="35" name="Shape 27"/>
          <p:cNvSpPr/>
          <p:nvPr/>
        </p:nvSpPr>
        <p:spPr>
          <a:xfrm>
            <a:off x="749808" y="5212080"/>
            <a:ext cx="420624" cy="420624"/>
          </a:xfrm>
          <a:prstGeom prst="ellipse">
            <a:avLst/>
          </a:prstGeom>
          <a:solidFill>
            <a:srgbClr val="7C4DD2"/>
          </a:solidFill>
          <a:ln/>
        </p:spPr>
      </p:sp>
      <p:pic>
        <p:nvPicPr>
          <p:cNvPr id="36" name="Image 6" descr="/sessions/epic-ecstatic-goldberg/mnt/outputs/icons/FaMobileAl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933" y="5296205"/>
            <a:ext cx="252374" cy="25237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98448" y="5157216"/>
            <a:ext cx="26307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&amp; Real-Time Alerts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749808" y="5687568"/>
            <a:ext cx="314279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access for approvals, quote submission and status alerts on the go.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4322369" y="5010912"/>
            <a:ext cx="3545129" cy="1463040"/>
          </a:xfrm>
          <a:prstGeom prst="roundRect">
            <a:avLst>
              <a:gd name="adj" fmla="val 4375"/>
            </a:avLst>
          </a:prstGeom>
          <a:solidFill>
            <a:srgbClr val="1B4A78"/>
          </a:solidFill>
          <a:ln/>
        </p:spPr>
      </p:sp>
      <p:sp>
        <p:nvSpPr>
          <p:cNvPr id="40" name="Shape 31"/>
          <p:cNvSpPr/>
          <p:nvPr/>
        </p:nvSpPr>
        <p:spPr>
          <a:xfrm>
            <a:off x="4523537" y="5212080"/>
            <a:ext cx="420624" cy="420624"/>
          </a:xfrm>
          <a:prstGeom prst="ellipse">
            <a:avLst/>
          </a:prstGeom>
          <a:solidFill>
            <a:srgbClr val="7C4DD2"/>
          </a:solidFill>
          <a:ln/>
        </p:spPr>
      </p:sp>
      <p:pic>
        <p:nvPicPr>
          <p:cNvPr id="41" name="Image 7" descr="/sessions/epic-ecstatic-goldberg/mnt/outputs/icons/FaPlug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7662" y="5296205"/>
            <a:ext cx="252374" cy="25237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072177" y="5157216"/>
            <a:ext cx="26307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API Marketplace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4523537" y="5687568"/>
            <a:ext cx="314279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connectors to ERP, CLM and e-signature, plus partner-app marketplace.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8096098" y="5010912"/>
            <a:ext cx="3545129" cy="1463040"/>
          </a:xfrm>
          <a:prstGeom prst="roundRect">
            <a:avLst>
              <a:gd name="adj" fmla="val 4375"/>
            </a:avLst>
          </a:prstGeom>
          <a:solidFill>
            <a:srgbClr val="1B4A78"/>
          </a:solidFill>
          <a:ln/>
        </p:spPr>
      </p:sp>
      <p:sp>
        <p:nvSpPr>
          <p:cNvPr id="45" name="Shape 35"/>
          <p:cNvSpPr/>
          <p:nvPr/>
        </p:nvSpPr>
        <p:spPr>
          <a:xfrm>
            <a:off x="8297266" y="5212080"/>
            <a:ext cx="420624" cy="420624"/>
          </a:xfrm>
          <a:prstGeom prst="ellipse">
            <a:avLst/>
          </a:prstGeom>
          <a:solidFill>
            <a:srgbClr val="7C4DD2"/>
          </a:solidFill>
          <a:ln/>
        </p:spPr>
      </p:sp>
      <p:pic>
        <p:nvPicPr>
          <p:cNvPr id="46" name="Image 8" descr="/sessions/epic-ecstatic-goldberg/mnt/outputs/icons/FaHandshak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1390" y="5296205"/>
            <a:ext cx="252374" cy="25237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845906" y="5157216"/>
            <a:ext cx="26307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Diversity &amp; Community</a:t>
            </a:r>
            <a:endParaRPr lang="en-US" sz="1250" dirty="0"/>
          </a:p>
        </p:txBody>
      </p:sp>
      <p:sp>
        <p:nvSpPr>
          <p:cNvPr id="48" name="Text 37"/>
          <p:cNvSpPr/>
          <p:nvPr/>
        </p:nvSpPr>
        <p:spPr>
          <a:xfrm>
            <a:off x="8297266" y="5687568"/>
            <a:ext cx="314279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Diverse-supplier tracking, community forums and shared best-practice playbooks.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RFQ Module — Executive Walkthrough</a:t>
            </a:r>
            <a:endParaRPr lang="en-US" sz="1000" dirty="0"/>
          </a:p>
        </p:txBody>
      </p:sp>
      <p:sp>
        <p:nvSpPr>
          <p:cNvPr id="50" name="Text 39"/>
          <p:cNvSpPr/>
          <p:nvPr/>
        </p:nvSpPr>
        <p:spPr>
          <a:xfrm>
            <a:off x="1118585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RFQ Module — Executive Walkthrough</dc:title>
  <dc:subject>PptxGenJS Presentation</dc:subject>
  <dc:creator>Procurement Technology Advisory</dc:creator>
  <cp:lastModifiedBy>Procurement Technology Advisory</cp:lastModifiedBy>
  <cp:revision>1</cp:revision>
  <dcterms:created xsi:type="dcterms:W3CDTF">2026-07-02T12:07:31Z</dcterms:created>
  <dcterms:modified xsi:type="dcterms:W3CDTF">2026-07-02T12:07:31Z</dcterms:modified>
</cp:coreProperties>
</file>